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e182aa2c34136" /><Relationship Type="http://schemas.openxmlformats.org/officeDocument/2006/relationships/extended-properties" Target="/docProps/app.xml" Id="Radf95b2e87c644d5" /><Relationship Type="http://schemas.openxmlformats.org/officeDocument/2006/relationships/officeDocument" Target="/ppt/presentation.xml" Id="R2efb809f7ebd4d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dee4dd146a4198"/>
  </p:sldMasterIdLst>
  <p:notesMasterIdLst>
    <p:notesMasterId xmlns:r="http://schemas.openxmlformats.org/officeDocument/2006/relationships" r:id="Rc56b977ed9264e92"/>
  </p:notesMasterIdLst>
  <p:sldIdLst>
    <p:sldId xmlns:r="http://schemas.openxmlformats.org/officeDocument/2006/relationships" id="256" r:id="R782b768c842a43f6"/>
    <p:sldId xmlns:r="http://schemas.openxmlformats.org/officeDocument/2006/relationships" id="257" r:id="R7b1a1f7cf4e540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5432a739ef4fdd" /><Relationship Type="http://schemas.openxmlformats.org/officeDocument/2006/relationships/slideMaster" Target="/ppt/slideMasters/slideMaster1.xml" Id="R6cdee4dd146a4198" /><Relationship Type="http://schemas.openxmlformats.org/officeDocument/2006/relationships/notesMaster" Target="/ppt/notesMasters/notesMaster1.xml" Id="Rc56b977ed9264e92" /><Relationship Type="http://schemas.openxmlformats.org/officeDocument/2006/relationships/presProps" Target="/ppt/presProps.xml" Id="R32934841d39a4c96" /><Relationship Type="http://schemas.openxmlformats.org/officeDocument/2006/relationships/tableStyles" Target="/ppt/tableStyles.xml" Id="R0fbca39577c14a89" /><Relationship Type="http://schemas.openxmlformats.org/officeDocument/2006/relationships/slide" Target="/ppt/slides/slide1.xml" Id="R782b768c842a43f6" /><Relationship Type="http://schemas.openxmlformats.org/officeDocument/2006/relationships/slide" Target="/ppt/slides/slide2.xml" Id="R7b1a1f7cf4e540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7172cb35234f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894063b6fe4a75" /><Relationship Type="http://schemas.openxmlformats.org/officeDocument/2006/relationships/notesMaster" Target="/ppt/notesMasters/notesMaster1.xml" Id="Re09faa49b33843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51fc0e940f4055" /><Relationship Type="http://schemas.openxmlformats.org/officeDocument/2006/relationships/notesMaster" Target="/ppt/notesMasters/notesMaster1.xml" Id="R69f16bed512148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f75d5aa53a40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39d3113feb4af0" /><Relationship Type="http://schemas.openxmlformats.org/officeDocument/2006/relationships/slideLayout" Target="/ppt/slideLayouts/slideLayout1.xml" Id="R7a6d4a05420644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6d4a05420644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15ddb220d4270" /><Relationship Type="http://schemas.openxmlformats.org/officeDocument/2006/relationships/notesSlide" Target="/ppt/notesSlides/notesSlide1.xml" Id="R7a15970e283440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dc3cdc0e34e66" /><Relationship Type="http://schemas.openxmlformats.org/officeDocument/2006/relationships/notesSlide" Target="/ppt/notesSlides/notesSlide2.xml" Id="R8fd8a62fa1e547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89D9CF-8C87-4ED0-B58A-4014B62F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多智能体系统能力测评 · 第三题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22AD2-749C-40CF-B503-EFB82956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3.3 语义识别与跨课题耦合检测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87312-E751-46BC-98FF-2812A4EA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5 个课题解析智能体 + 1 个跨课题耦合检测智能体 · 全部由 DeepSeek 大模型驱动，零硬编码规则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FD31E-BC60-4C73-826C-F480A4D3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504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E0C03-1CF8-4BFE-B1BE-2BB75DD3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B"/>
                </a:solidFill>
              </a:defRPr>
            </a:pPr>
            <a:r>
              <a:rPr sz="1050" b="1">
                <a:solidFill>
                  <a:srgbClr val="0F172B"/>
                </a:solidFill>
              </a:rPr>
              <a:t>5 份课题文档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9A5233-52AE-471E-8446-4E02A49A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论文·专利·报告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AAB96-F528-45AB-9497-92BC52F1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288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A1B9"/>
                </a:solidFill>
              </a:defRPr>
            </a:pPr>
            <a:r>
              <a:rPr sz="1650" b="0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0AA0C-2226-460D-B31D-39E9338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43100"/>
            <a:ext cx="1504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C7E897-7527-4F5C-9E7E-F6313E02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0764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B"/>
                </a:solidFill>
              </a:defRPr>
            </a:pPr>
            <a:r>
              <a:rPr sz="1050" b="1">
                <a:solidFill>
                  <a:srgbClr val="0F172B"/>
                </a:solidFill>
              </a:rPr>
              <a:t>5 个课题解析智能体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E809B-B8EA-4F2B-A0F1-78F35E27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812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DeepSeek 解析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BD146E-1EA5-4519-AFE3-BB8CAB99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2288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A1B9"/>
                </a:solidFill>
              </a:defRPr>
            </a:pPr>
            <a:r>
              <a:rPr sz="1650" b="0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71D71-D68E-4614-B110-2F631CEE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943100"/>
            <a:ext cx="1504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56E15-0191-4245-9BD9-1B9E76EA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0764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B"/>
                </a:solidFill>
              </a:defRPr>
            </a:pPr>
            <a:r>
              <a:rPr sz="1050" b="1">
                <a:solidFill>
                  <a:srgbClr val="0F172B"/>
                </a:solidFill>
              </a:rPr>
              <a:t>结构化语义表示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D86A6-2EBA-470B-A117-E02A85DC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812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实体·事件·技术要点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4BCC4-0E2D-434C-9E5A-05D140F5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2288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A1B9"/>
                </a:solidFill>
              </a:defRPr>
            </a:pPr>
            <a:r>
              <a:rPr sz="1650" b="0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311DD-BF9A-44DE-B802-5C0F9BB7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43100"/>
            <a:ext cx="1504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545ABD-3F99-4255-974C-EEA4BA37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B"/>
                </a:solidFill>
              </a:defRPr>
            </a:pPr>
            <a:r>
              <a:rPr sz="1050" b="1">
                <a:solidFill>
                  <a:srgbClr val="0F172B"/>
                </a:solidFill>
              </a:rPr>
              <a:t>跨课题耦合检测智能体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93CFA-3429-416F-9A1F-2DFCBD7A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812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DeepSeek 检测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E2149-8059-490D-B3F7-3F27B0C4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288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A1B9"/>
                </a:solidFill>
              </a:defRPr>
            </a:pPr>
            <a:r>
              <a:rPr sz="1650" b="0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495AF-E537-4646-930F-2BA6EB37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43100"/>
            <a:ext cx="1504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8C247-5593-4A0D-B40D-2D5014CD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764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B"/>
                </a:solidFill>
              </a:defRPr>
            </a:pPr>
            <a:r>
              <a:rPr sz="1050" b="1">
                <a:solidFill>
                  <a:srgbClr val="0F172B"/>
                </a:solidFill>
              </a:rPr>
              <a:t>候选耦合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017B37-EAE9-4958-BCB9-CFF8C1AE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正/负·带证据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F73162-E2BA-47E7-8520-4F423077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288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0A1B9"/>
                </a:solidFill>
              </a:defRPr>
            </a:pPr>
            <a:r>
              <a:rPr sz="1650" b="0">
                <a:solidFill>
                  <a:srgbClr val="90A1B9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EB9574-2835-4C37-A101-1BD539B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43100"/>
            <a:ext cx="15049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C452C2-8B02-4288-BF5D-AF19543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764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172B"/>
                </a:solidFill>
              </a:defRPr>
            </a:pPr>
            <a:r>
              <a:rPr sz="1050" b="1">
                <a:solidFill>
                  <a:srgbClr val="0F172B"/>
                </a:solidFill>
              </a:rPr>
              <a:t>评估与报告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200D95-CA3D-47B5-99AA-D3FB6997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48E"/>
                </a:solidFill>
              </a:defRPr>
            </a:pPr>
            <a:r>
              <a:rPr sz="900" b="0">
                <a:solidFill>
                  <a:srgbClr val="62748E"/>
                </a:solidFill>
              </a:rPr>
              <a:t>精确率·召回率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2ED01A-E615-4A34-8BA9-91B5485B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4290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436113-6629-4C61-9B88-BA61CD47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B"/>
                </a:solidFill>
              </a:defRPr>
            </a:pPr>
            <a:r>
              <a:rPr sz="1575" b="1">
                <a:solidFill>
                  <a:srgbClr val="0F172B"/>
                </a:solidFill>
              </a:rPr>
              <a:t>实体对齐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2F85E-95FC-4A6E-B81C-7A96A996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把不同课题中的不同说法归一为同一概念或资源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0FEB76-D342-4AB4-AF4C-0448B58D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示例：4块V100 ≡ 老旧V100节点 → V100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36D845-E482-4A28-AA4D-FDD3CDAC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34290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EE0787-5D27-4AB7-BC5B-FA6B7E96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B"/>
                </a:solidFill>
              </a:defRPr>
            </a:pPr>
            <a:r>
              <a:rPr sz="1575" b="1">
                <a:solidFill>
                  <a:srgbClr val="0F172B"/>
                </a:solidFill>
              </a:rPr>
              <a:t>时序推理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844A4D-1602-45CA-BCB8-A065ECC4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909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事件在时间轴上的冲突或依赖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7216D1-D8FC-4384-B9F8-3FEF0FEA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767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示例：2026-08 用 V100 训练 vs 2026-07 已退役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DE2468-8149-420E-89EB-E1F9649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43250"/>
            <a:ext cx="3429000" cy="21526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7C708A-0269-48E3-B3FE-4030300A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528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F172B"/>
                </a:solidFill>
              </a:defRPr>
            </a:pPr>
            <a:r>
              <a:rPr sz="1575" b="1">
                <a:solidFill>
                  <a:srgbClr val="0F172B"/>
                </a:solidFill>
              </a:rPr>
              <a:t>技术路线耦合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2F2034-5815-44C2-A338-C566CD36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14158"/>
                </a:solidFill>
              </a:defRPr>
            </a:pPr>
            <a:r>
              <a:rPr sz="1200" b="0">
                <a:solidFill>
                  <a:srgbClr val="314158"/>
                </a:solidFill>
              </a:rPr>
              <a:t>协同增效 vs 重复投入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518788-5640-4C4B-AA47-9EC7BCB8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76750"/>
            <a:ext cx="2971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示例：APS 复用 / baseline（正）｜专利权利要求重叠（负）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DC4DE9-4BE6-4973-BBA7-24C7C67F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5556C"/>
                </a:solidFill>
              </a:defRPr>
            </a:pPr>
            <a:r>
              <a:rPr sz="1125" b="0">
                <a:solidFill>
                  <a:srgbClr val="45556C"/>
                </a:solidFill>
              </a:rPr>
              <a:t>输出：跨课题协同分析报告（Markdown） · 完整运行日志 · 3 张可视化图（耦合网络 / 类型分布 / 对齐过程）</a:t>
            </a:r>
          </a:p>
        </p:txBody>
      </p:sp>
    </p:spTree>
    <p:extLst>
      <p:ext uri="{BB962C8B-B14F-4D97-AF65-F5344CB8AC3E}">
        <p14:creationId xmlns:p14="http://schemas.microsoft.com/office/powerpoint/2010/main" val="12604370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5F90C-569D-4D40-B956-44307BA2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多智能体系统能力测评 · 第三题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CAF45-5908-4F12-B252-C125E1B8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耦合检测算法与准确率评估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B7E0A-ED7D-4F55-96D4-6B636429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5556C"/>
                </a:solidFill>
              </a:defRPr>
            </a:pPr>
            <a:r>
              <a:rPr sz="1275" b="0">
                <a:solidFill>
                  <a:srgbClr val="45556C"/>
                </a:solidFill>
              </a:rPr>
              <a:t>实体对齐 → 时序推理 → 技术路线耦合 → 冲突判定，对照预埋 ground truth 量化评测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FA8536-A165-456A-BA62-D3F99A93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3340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DB8FD-D28A-4973-80F9-2C65070F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87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耦合检测算法（伪代码级）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DDB4F-DC7C-4FA9-BE0A-0CA99585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B"/>
                </a:solidFill>
              </a:defRPr>
            </a:pPr>
            <a:r>
              <a:rPr sz="1275" b="1">
                <a:solidFill>
                  <a:srgbClr val="0F172B"/>
                </a:solidFill>
              </a:rPr>
              <a:t>① 实体对齐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7D047-66C9-4047-A75C-73B9048C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别名归一，把不同说法聚为同一标准实体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964D7C-83DD-4C5E-A2B7-1BAAF22A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B"/>
                </a:solidFill>
              </a:defRPr>
            </a:pPr>
            <a:r>
              <a:rPr sz="1275" b="1">
                <a:solidFill>
                  <a:srgbClr val="0F172B"/>
                </a:solidFill>
              </a:rPr>
              <a:t>② 时序推理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F3B72-51E8-46FF-8983-282017D0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资源终止时间 vs 使用时间；专利申请日 vs 论文首创声明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83600-4B8E-4E88-83AA-3C8FCBCA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B"/>
                </a:solidFill>
              </a:defRPr>
            </a:pPr>
            <a:r>
              <a:rPr sz="1275" b="1">
                <a:solidFill>
                  <a:srgbClr val="0F172B"/>
                </a:solidFill>
              </a:rPr>
              <a:t>③ 技术路线耦合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A7AD9B-0CFE-41BE-9432-CEAEAAAD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技术重叠 + 知识产权语境 → 负耦合；建议/采用 baseline、迁移复用 → 正耦合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70EE0-6D9B-472D-88E5-712C68EB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172B"/>
                </a:solidFill>
              </a:defRPr>
            </a:pPr>
            <a:r>
              <a:rPr sz="1275" b="1">
                <a:solidFill>
                  <a:srgbClr val="0F172B"/>
                </a:solidFill>
              </a:rPr>
              <a:t>④ 冲突判定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33C01-41FE-4D48-84F2-75AC9A4D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487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输出：类型 / 课题组对 / 严重度 / 证据句 / 建议措施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D9E30-CD72-43F5-8D64-8E11CB90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57400"/>
            <a:ext cx="51816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4DD6A-C764-41D7-B0DC-CC8091D7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479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172B"/>
                </a:solidFill>
              </a:defRPr>
            </a:pPr>
            <a:r>
              <a:rPr sz="1500" b="1">
                <a:solidFill>
                  <a:srgbClr val="0F172B"/>
                </a:solidFill>
              </a:rPr>
              <a:t>准确率评估（预埋 ground truth）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B88382-B1A5-4147-914F-E5568CF7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724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20618"/>
                </a:solidFill>
              </a:defRPr>
            </a:pPr>
            <a:r>
              <a:rPr sz="2250" b="1">
                <a:solidFill>
                  <a:srgbClr val="020618"/>
                </a:solidFill>
              </a:rPr>
              <a:t>召回率 100%  ·  精确率 87.5%  ·  F1 93.3%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947A10-B4D8-40D7-8070-81DC84C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D293D"/>
                </a:solidFill>
              </a:defRPr>
            </a:pPr>
            <a:r>
              <a:rPr sz="1200" b="0">
                <a:solidFill>
                  <a:srgbClr val="1D293D"/>
                </a:solidFill>
              </a:rPr>
              <a:t>预埋 7 处耦合（题目要求 ≥ 6）——单次真实运行 7/7 全部检出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01767-75CD-4083-B8D2-4A2BA365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2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匹配口径：类型 + 课题组对 + 实体包含关系；评估逻辑在 coupling_detector.py 中公开可查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430AF5-71EB-4566-8F3D-2534C523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14900"/>
            <a:ext cx="4724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注：真实 DeepSeek 单次运行结果，多次运行召回率在 85.7%–100% 间合理波动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7868B-7FE8-41F8-9CB9-1A7B2EA9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代码：agents/（5 解析 + 1 检测，LLM 驱动） · coupling_detector.py · demo_cross_group.py · logs/ · figures/</a:t>
            </a:r>
          </a:p>
        </p:txBody>
      </p:sp>
    </p:spTree>
    <p:extLst>
      <p:ext uri="{BB962C8B-B14F-4D97-AF65-F5344CB8AC3E}">
        <p14:creationId xmlns:p14="http://schemas.microsoft.com/office/powerpoint/2010/main" val="693671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2026-08-13T13:20:35.0680000Z</dcterms:created>
  <dcterms:modified xsi:type="dcterms:W3CDTF">2026-08-13T13:20:35.0680000Z</dcterms:modified>
</coreProperties>
</file>